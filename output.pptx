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0078D4"/>
                </a:solidFill>
                <a:latin typeface="Noto Sans JP"/>
              </a:rPr>
              <a:t>React 入門ガイド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444754"/>
                </a:solidFill>
                <a:latin typeface="Noto Sans JP"/>
              </a:rPr>
              <a:t>基本から実践パターンまで体系的に学ぶ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React とは？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9669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Meta（旧 Facebook）が開発した JavaScript の UI ライブラリ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6245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「コンポーネント」という部品単位で UI を組み立てる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2821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916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データが変わったとき、必要な部分だけを自動で再描画する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7F37"/>
                </a:solidFill>
                <a:latin typeface="Noto Sans JP"/>
              </a:rPr>
              <a:t>3 つの核心概念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700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3347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コンポーネント: UI の部品。関数として書き、JSX で見た目を定義する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3580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99923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Props: 親から子へデータを渡す仕組み。読み取り専用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078D4"/>
                </a:solidFill>
                <a:latin typeface="Noto Sans JP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36499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Noto Sans JP"/>
              </a:rPr>
              <a:t>State: コンポーネント内部で管理する状態。変化すると UI が再描画される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3075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6732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JSX = JavaScript + HTML ライクな構文を組み合わせたもの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コンポーネントと Props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コンポーネントの基本 / Props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Props を分割代入で受け取るのが推奨パターン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Props を分割代入で受け取る（推奨パターン）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MyHello({ myName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&lt;div&gt;Hello, {myName}!&lt;/div&gt;;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使う側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&lt;MyHello myName="Taro" 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props.myName より { myName } と分割代入の方がコードが簡潔。{} の中には任意の JS 式を書ける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children ― 子要素を受け取る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children という特別な Props でタグの中身を受け取れる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544068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5294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Panel({ children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&lt;div className="panel"&gt;{children}&lt;/div&gt;;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使う側：タグの中身が children として渡される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&lt;Panel&gt;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&lt;h2&gt;タイトル&lt;/h2&gt;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&lt;p&gt;本文テキスト&lt;/p&gt;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&lt;/Panel&gt;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children の key による絞り込み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key で子要素を識別して特定の要素だけ取り出せる（HTML の「名前付きスロット」相当）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TitledPanel({ children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key が 'title' の子要素と 'body' の子要素をそれぞれ取り出す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title = children.find(elem =&gt; elem.key === 'title');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body  = children.find(elem =&gt; elem.key === 'body');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 className="panel"&gt;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 className="panel-title"&gt;{title}&lt;/div&gt;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&lt;hr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 className="panel-body"&gt;{body}&lt;/div&gt;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使う側：key で役割を指定して渡す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&lt;TitledPanel&gt;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&lt;h2 key="title"&gt;パネルのタイトル&lt;/h2&gt;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&lt;p  key="body"&gt;パネルの本文テキスト&lt;/p&gt;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&lt;/TitledPanel&gt;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子要素が 1 つのときは配列でなくオブジェクトになるため children.find() が使えない点に注意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イベント処理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イベントハンドラの書き方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onClick などのイベント属性に「関数の参照」を渡す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EventBasic()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handleClick = 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console.log(new Date().toLocaleString());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関数の「参照」を渡す（() なし）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&lt;button onClick={handleClick}&gt;現在時刻を表示&lt;/button&gt;;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追加引数を渡したいとき → アロー関数でラップ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EventArgs()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handleClick = (e, type)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const d = new Date();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console.log(`${e.target.id}: ${type === 'date' ? d.toLocaleDateString() : d.toLocaleTimeString()}`);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id="date" onClick={e =&gt; handleClick(e, 'date')}&gt;日付&lt;/button&gt;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id="time" onClick={e =&gt; handleClick(e, 'time')}&gt;時刻&lt;/button&gt;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onClick={handleClick()} と () をつけると即座に実行される。関数の参照を渡すのが鉄則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主なイベントの種類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2860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イベント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60120"/>
            <a:ext cx="41148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9784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属性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用途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2860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クリック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399032"/>
            <a:ext cx="41148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42646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onClick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ボタン押下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2860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入力変化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1837943"/>
            <a:ext cx="41148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1865375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onChange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テキスト入力・セレクト変更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2860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マウス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276856"/>
            <a:ext cx="41148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3042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onMouseEnter / onMouseLeave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ホバー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2860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キーボード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2715768"/>
            <a:ext cx="41148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74319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onKeyDown / onKeyUp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キー入力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State（状態管理）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useState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コンポーネントが持つ「変化するデータ」を useState フックで宣言する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useState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Counter({ init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[count, setCount] = useState(init); // 初期値は init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setCount(count + 1)}&gt;count&lt;/button&gt;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&lt;p&gt;{count} 回クリック&lt;/p&gt;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更新関数を呼ぶと React が自動で UI を再描画。let count = 0; count++ のような通常変数では更新されない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State のリフトアップ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複数の子コンポーネントがデータを共有するとき → 共通の親に State を持たせ、更新関数を Props として渡す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親コンポーネント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StateParent()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[count, setCount] = useState(0);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update = step =&gt; setCount(c =&gt; c + step); // 関数形式で前の値を安全に参照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&lt;p&gt;合計: {count}&lt;/p&gt;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&lt;Counter step={1}  onUpdate={update}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&lt;Counter step={5}  onUpdate={update}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&lt;Counter step={-1} onUpdate={update}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子コンポーネント：受け取った onUpdate を呼ぶだけ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Counter({ step, onUpdate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&lt;button onClick={() =&gt; onUpdate(step)}&gt;{step}&lt;/button&gt;;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setCount(c =&gt; c + step) の関数形式は、非同期処理が絡む場面で前の値を確実に参照するために使う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リスト処理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リスト処理（.map()）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配列データを UI に変換するには .map() 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Fragment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BookList({ books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{books.map(book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&lt;Fragment key={book.isbn}&gt;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&lt;dt&gt;{book.title}（{book.price}円）&lt;/dt&gt;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&lt;dd&gt;{book.summary}&lt;/dd&gt;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&lt;/Fragment&gt;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))}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フィルタリング：価格が 3500 円未満だけ表示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lowPrice = books.filter(book =&gt; book.price &lt; 3500);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ソート：タイトル順（元の配列をコピーしてから sort）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sorted = [...books].sort((a, b) =&gt; a.title.localeCompare(b.title));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key には配列インデックスでなくデータ固有 ID を使う。sort() は破壊的なので [...books].sort() でコピーしてから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条件付きレンダリング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条件付きレンダリングの 3 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if 文 / 三項演算子 / &amp;&amp; 演算子 を使い分ける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① if 文 ― 最もシンプルな分岐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Greeting({ isLoggedIn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if (isLoggedIn) return &lt;p&gt;ようこそ！&lt;/p&gt;;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&lt;p&gt;ログインしてください&lt;/p&gt;;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② 三項演算子 ― JSX の中で分岐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Badge({ status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&lt;span className={status === 'active' ? 'badge-green' : 'badge-gray'}&gt;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{status === 'active' ? '有効' : '無効'}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&lt;/span&gt;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③ &amp;&amp; 演算子 ― true のときだけ表示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Notification({ hasMessage, message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&lt;h1&gt;ダッシュボード&lt;/h1&gt;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{hasMessage &amp;&amp; &lt;p className="notification"&gt;{message}&lt;/p&gt;}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注意: {count &amp;&amp; &lt;p&gt;...&lt;/p&gt;} で count=0 のとき「0」がそのまま表示される。{count &gt; 0 &amp;&amp; ...} を使う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コンポーネントの動的切り替え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変数に入ったコンポーネント（大文字始まり）をそのままレンダリングできる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BannerMember, BannerNew, BannerEnv } from './Banners';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SelectComp()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components = [BannerMember, BannerNew, BannerEnv];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コンポーネントを変数に代入（大文字始まりの変数名が必須）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SelectedComponent = components[Math.floor(Math.random() * components.length)];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 className="banner"&gt;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&lt;SelectedComponent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大文字始まりの変数名が必須。小文字だと HTML タグとして解釈されてしまう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render props パターン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render props 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描画内容を関数として Props で受け取る設計パターン。レイアウトと表示内容を分離できる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レイアウト担当：表示方法を render 関数として受け取る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ListTemplate({ src, render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{src.map(elem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&lt;Fragment key={elem.isbn}&gt;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{render(elem)}  {/* 各要素をどう表示するかは呼び出し元が決める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&lt;/Fragment&gt;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))}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使う側：同じ ListTemplate で表示内容だけ変える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&lt;ListTemplate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src={books}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render={book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&lt;dt&gt;{book.title}&lt;/dt&gt;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&lt;dd&gt;{book.price}円&lt;/dd&gt;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&lt;ListTemplate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src={books}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render={book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&lt;dt&gt;{book.title}&lt;/dt&gt;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&lt;dd&gt;著者: {book.author}&lt;/dd&gt;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children（JSX を渡す）との違い: render props は関数を渡すので、コンポーネント側のデータを呼び出し元が受け取れる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フォーム処理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制御されたコンポーネント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入力値を必ず State で管理する「Controlled Components」パターン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ProfileForm()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[form, setForm] = useState({ name: 'Yamada', age: 18 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handleChange = e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setForm({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...form,                          // 既存の値を保持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[e.target.name]: e.target.value   // 変更されたフィールドだけ上書き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&lt;form&gt;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&lt;input name="name" value={form.name} onChange={handleChange}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&lt;input name="age"  value={form.age}  onChange={handleChange} type="number"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&lt;p&gt;Hello, {form.name}（{form.age}）&lt;/p&gt;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&lt;/form&gt;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[e.target.name] は計算プロパティ名（Computed Property Names）。フィールドが増えてもハンドラを 1 つにまとめられる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各入力要素のポイント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47472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960120"/>
            <a:ext cx="7955279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97840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ポイント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99032"/>
            <a:ext cx="347472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&lt;input type="text"&gt;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399032"/>
            <a:ext cx="7955279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4264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value + onChange で制御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37943"/>
            <a:ext cx="347472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65375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&lt;textarea&gt;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837943"/>
            <a:ext cx="7955279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865375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JSX では自己閉じタグ不可。value で制御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76856"/>
            <a:ext cx="347472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04288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&lt;select&gt;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276856"/>
            <a:ext cx="7955279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30428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value を &lt;select&gt; に渡して選択状態を制御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715768"/>
            <a:ext cx="347472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43199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&lt;input type="radio"&gt;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2715768"/>
            <a:ext cx="7955279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743199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checked={value === selected} で選択状態を判定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54680"/>
            <a:ext cx="347472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82112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&lt;input type="checkbox"&gt;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154680"/>
            <a:ext cx="7955279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18211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checked + onChange で制御。複数選択は配列で管理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593591"/>
            <a:ext cx="347472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21023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&lt;input type="file"&gt;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3593591"/>
            <a:ext cx="7955279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621023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非制御のみ。onChange で e.target.files を取得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React Hook Form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 Hook Form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非制御コンポーネントベース。バリデーション付きフォームを少ないコードで実装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useForm } from 'react-hook-form';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BookForm()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register,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handleSubmit,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formState: { errors, isDirty, isValid, isSubmitting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 = useForm({ defaultValues: { title: '', price: '' }, mode: 'onChange' 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onSubmit = data =&gt; console.log(data);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&lt;form onSubmit={handleSubmit(onSubmit)} noValidate&gt;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&lt;input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{...register('title',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required: 'タイトルは必須です',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maxLength: { value: 20, message: '20文字以内で入力してください'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})}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&lt;div&gt;{errors.title?.message}&lt;/div&gt;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&lt;input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type="email"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{...register('email',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required: 'メールアドレスは必須です',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pattern: { value: /^[^\s@]+@[^\s@]+\.[^\s@]+$/, message: '形式が正しくありません'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})}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&lt;div&gt;{errors.email?.message}&lt;/div&gt;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type="submit" disabled={!isDirty || !isValid || isSubmitting}&gt;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{isSubmitting ? '送信中...' : '送信'}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&lt;/form&gt;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{...register('fieldName', rules)} を展開するだけで登録完了。errors.fieldName?.message でエラー表示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制御されたコンポーネント vs React Hook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960120"/>
            <a:ext cx="54864" cy="5760720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Noto Sans JP"/>
              </a:rPr>
              <a:t>制御されたコンポーネント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739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管理方法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5798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State（useState）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420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260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再レンダリング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10127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入力のたびに発生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9417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782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コード量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多い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846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230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向いている場面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61441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リアルタイム連動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0058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7F37"/>
                </a:solidFill>
                <a:latin typeface="Noto Sans JP"/>
              </a:rPr>
              <a:t>React Hook 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3898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739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管理方法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5798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DOM 参照（非制御）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420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9260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再レンダリング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310127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最小限（バリデーション時のみ）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69417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0782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コード量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4622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少ない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846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754"/>
                </a:solidFill>
                <a:latin typeface="Noto Sans JP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230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754"/>
                </a:solidFill>
                <a:latin typeface="Noto Sans JP"/>
              </a:rPr>
              <a:t>向いている場面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61441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通常の入力フォーム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State の実践：Todo アプリ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配列 State の 3 つの操作パターン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push/pop などの破壊的操作は NG。新しい配列を返す操作（map / filter / スプレッド）を使う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State 設計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maxId ... 次の ID を管理（削除後も重複しないように連番を維持）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title ... 入力中のタイトル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todo  ... [{ id, title, created, isDone }, ...]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desc  ... ソート方向のフラグ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① 追加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setTodo([...todo, { id: maxId, title, created: new Date(), isDone: false }]);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② 更新（完了トグル）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setTodo(todo.map(item =&gt;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item.id === targetId ? { ...item, isDone: !item.isDone } : item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③ 削除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setTodo(todo.filter(item =&gt; item.id !== targetId));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todo.push(newItem) では React が変化を検知できない。必ず新しい配列を返す操作を使う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Code Splitting と Suspense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React.lazy() と &lt;Suspense&gt;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コンポーネントを必要になったタイミングで読み込み、初期バンドルサイズを削減する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Suspense, lazy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動的インポートで遅延読み込み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HeavyComponent = lazy(() =&gt; import('./HeavyComponent'));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&lt;Suspense fallback={&lt;p&gt;読み込み中...&lt;/p&gt;}&gt;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&lt;HeavyComponent /&gt;  {/* 読み込み完了まで fallback が表示される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複数の lazy コンポーネントを 1 つの Suspense でまとめることも可能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PageA = lazy(() =&gt; import('./PageA'));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PageB = lazy(() =&gt; import('./PageB'));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&lt;Suspense fallback={&lt;Spinner /&gt;}&gt;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&lt;PageA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&lt;PageB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&lt;/Suspense&gt;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fallback にはローディングスピナーやスケルトン UI を渡す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use()（React 19）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use() で Promise を読み取る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if 文や for ループの中でも呼べる。Promise が解決するまで &lt;Suspense&gt; が待機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use, Suspense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データを取得する Promise を作成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fetchMessage = () =&gt;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fetch('/api/message').then(res =&gt; res.json()).then(data =&gt; data.text);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use() で Promise を読み取るコンポーネント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Message({ messagePromise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text = use(messagePromise); // 解決するまで Suspense が待機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&lt;p&gt;{text}&lt;/p&gt;;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呼び出し側：Suspense でラップする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&lt;Suspense fallback={&lt;p&gt;Loading...&lt;/p&gt;}&gt;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&lt;Message messagePromise={fetchMessage()}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useEffect + fetch と異なりローディング処理を &lt;Suspense&gt; に任せられる。useSWR よりもシンプル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use() で Context を読み取る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useContext の代わりに use で Context を読み取れる。条件分岐の中でも呼べるのが強み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use, createContext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ThemeContext = createContext('light');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Button({ isSpecial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useContext と違い、条件分岐の中で呼び出せる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if (isSpecial)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const theme = use(ThemeContext);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return &lt;button className={theme}&gt;特別なボタン&lt;/button&gt;;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&lt;button&gt;通常のボタン&lt;/button&gt;;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use() は React 19 で追加。他のフックと異なり if 文・for ループ内でも呼び出せる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Error Boundary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Error Boundary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子コンポーネントでエラーが発生してもアプリ全体がクラッシュしないよう保護する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ErrorBoundary } from 'react-error-boundary';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シンプルな使い方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&lt;ErrorBoundary fallback={&lt;p&gt;エラーが発生しました&lt;/p&gt;}&gt;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&lt;SomeComponent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&lt;/ErrorBoundary&gt;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onReset でリトライボタン付きフォールバック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&lt;ErrorBoundary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fallback={({ resetErrorBoundary })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&lt;p&gt;エラーが発生しました&lt;/p&gt;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onClick={resetErrorBoundary}&gt;再試行&lt;/button&gt;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&lt;SomeComponent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&lt;/ErrorBoundary&gt;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注意: Error Boundary はイベントハンドラ内のエラーは捕捉しない。そちらは通常の try/catch を使う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Portal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createPortal ― コンポーネントツリー外へレンダリング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モーダルやツールチップなど z-index 問題を避けたいときに使う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createPortal } from 'react-dom';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Modal({ show, onClose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if (!show) return null;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createPortal(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 className="dialog"&gt;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&lt;p&gt;ダイアログの内容&lt;/p&gt;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onClick={onClose}&gt;閉じる&lt;/button&gt;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document.getElementById('dialog')  // レンダリング先の DOM 要素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index.html 側で Portal のマウント先を用意する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&lt;div id="root"&gt;&lt;/div&gt;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&lt;div id="dialog"&gt;&lt;/div&gt;  ← &lt;body&gt; 直下に配置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Portal を使っても、イベントのバブリングは React のコンポーネントツリーに沿って動作する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ドキュメントメタデータ（React 19）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&lt;title&gt; / &lt;meta&gt; の動的操作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React 19 では &lt;title&gt; &lt;meta&gt; &lt;link&gt; &lt;script&gt; をコンポーネント内に書くと自動的に &lt;head&gt; に配置される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ArticlePage({ title, description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JSX の中に書くだけで &lt;head&gt; に自動配置される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&lt;title&gt;{title}&lt;/title&gt;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&lt;meta name="description" content={description}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&lt;h1&gt;{title}&lt;/h1&gt;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&lt;p&gt;記事の本文...&lt;/p&gt;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コンポーネントがアンマウントされると &lt;head&gt; から自動で取り除かれる。ページ遷移時のタイトル変更に便利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&lt;script&gt; の動的読み込み / &lt;link&gt; の優先度制御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同じ src の &lt;script&gt; は重複排除。&lt;link&gt; の precedence で CSS 適用順を制御できる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&lt;script&gt; ― 同じ src を複数書いても 1 回しか読み込まれない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function ExternalWidget()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 className="widget"&gt;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&lt;script src="https://cdn.example.com/widget.js" async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 id="widget-root"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&lt;link&gt; + precedence ― Suspense と連携して FOUC を防止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StyledSection()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&lt;link rel="stylesheet" href="base.css"  precedence="low"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&lt;link rel="stylesheet" href="theme.css" precedence="high"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 className="themed-content"&gt;コンテンツ&lt;/div&gt;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// CSS の読み込みが完了するまで fallback を表示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&lt;Suspense fallback={&lt;p&gt;スタイル読み込み中...&lt;/p&gt;}&gt;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&lt;StyledSection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precedence は任意の文字列（'low'/'high' など）で挿入順序を制御。スタイルなしコンテンツの瞬間表示（FOUC）を防げる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スタイリング手法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CSS Modules / CSS-in-JS（Emotion）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CSS Modules はクラス名をスコープ化。Emotion は JS の変数をそのまま CSS に使える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544068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5294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CSS Modules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styles from './Panel.module.css';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Panel()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&lt;div className={styles.panel}&gt;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styles.panel はビルド時に "panel_abc123" のようにハッシュ化される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React is a JavaScript Library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CSS-in-JS（Emotion）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/** @jsxImportSource @emotion/react */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css } from '@emotion/react';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StyledBox({ isActive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boxStyle = css\`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background-color: \${isActive ? 'royalblue' : 'gray'};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color: white;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border-radius: 5px;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\`;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&lt;div css={boxStyle}&gt;スタイル付きボックス&lt;/div&gt;;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スタイリング手法の比較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92608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960120"/>
            <a:ext cx="425196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7840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メリット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960120"/>
            <a:ext cx="425196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97840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デメリット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92608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インラインスタイル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399032"/>
            <a:ext cx="425196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26464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シンプル・追加パッケージ不要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399032"/>
            <a:ext cx="425196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426464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擬似クラス（:hover など）が使えない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92608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CSS Modules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1837943"/>
            <a:ext cx="425196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1865375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スコープが閉じる・通常の CSS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1837943"/>
            <a:ext cx="425196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1865375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動的スタイルに一工夫必要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92608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Emotion（CSS-in-JS）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276856"/>
            <a:ext cx="425196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230428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JS の変数・条件をそのまま使える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2276856"/>
            <a:ext cx="425196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30428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バンドルサイズが増える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92608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Material UI (MUI)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2715768"/>
            <a:ext cx="425196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743199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完成度の高いコンポーネント群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15768"/>
            <a:ext cx="425196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2743199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カスタマイズに学習コストがある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Material UI（MUI）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Material UI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Google の Material Design に基づいた React UI ライブラリ。ゼロから CSS を書かずに整ったデザインを実現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Button, TextField, Box } from '@mui/material';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LoginForm()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&lt;Box sx={{ display: 'flex', flexDirection: 'column', gap: 2 }}&gt;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&lt;TextField label="メールアドレス" variant="outlined"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&lt;TextField label="パスワード" type="password" variant="outlined"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variant="contained"&gt;ログイン&lt;/Button&gt;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&lt;/Box&gt;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テーマのカスタマイズ・ダーク/ライトモード切り替え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createTheme, ThemeProvider } from '@mui/material/styles';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darkTheme = createTheme({ palette: { mode: 'dark' } 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&lt;ThemeProvider theme={darkTheme}&gt;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&lt;LoginForm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&lt;/ThemeProvider&gt;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sx prop で inline スタイルを MUI の設計原則に沿って書ける。テーマで全体のデザインを統一可能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アニメーション（Framer Motion）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Framer Motion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宣言的にアニメーションを記述できるライブラリ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motion, AnimatePresence } from 'framer-motion';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入場・ホバーアニメーション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&lt;motion.div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initial={{ opacity: 0, y: 20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animate={{ opacity: 1, y: 0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whileHover={{ scale: 1.05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アニメーション付きボックス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&lt;/motion.div&gt;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削除アニメーション（AnimatePresence が必要）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&lt;AnimatePresence&gt;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{show &amp;&amp;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&lt;motion.div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initial={{ opacity: 0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animate={{ opacity: 1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exit={{ opacity: 0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消えるときにフェードアウト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&lt;/motion.div&gt;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&lt;/AnimatePresence&gt;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バリアント ― 複数の状態をまとめて定義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variants =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hidden:  { opacity: 0, y: 20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visible: { opacity: 1, y: 0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&lt;motion.div variants={variants} initial="hidden" animate="visible" 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AnimatePresence は要素が DOM から削除されるときの exit アニメーションに必要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useEffect（副作用の管理）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useEffect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レンダリング後に実行したい処理（API 呼び出し・タイマー・DOM 操作など）を登録する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useEffect, useState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DataFetcher({ url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[data, setData] = useState(null);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useEffect(()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fetch(url)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.then(res =&gt; res.json())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.then(json =&gt; setData(json));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}, [url]); // url が変化するたびに再実行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&lt;p&gt;{data?.title}&lt;/p&gt;;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依存配列のパターン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[]        → 初回レンダリング後に 1 回だけ実行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[value]   → value が変化するたびに実行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省略      → 毎回レンダリング後に実行（ほぼ使わない）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クリーンアップ関数（return () =&gt; clearInterval(...)）を返すと、アンマウント時に実行される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useLayoutEffect ― ブラウザ描画前に同期実行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DOM のサイズや位置を計測してから描画したい場合に使う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useEffect, useLayoutEffect, useState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Example()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[width, setWidth] = useState(0);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DOM のサイズを取得してから描画したい → useLayoutEffect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useLayoutEffect(()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setWidth(document.getElementById('box').offsetWidth);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}, []);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API 呼び出しなど、画面描画を遅らせる必要がない処理 → useEffect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useEffect(()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fetch('/api/data').then(/* ... */);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}, []);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&lt;div id="box"&gt;幅: {width}px&lt;/div&gt;;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useLayoutEffect は描画前に同期実行するため、SSR 環境では警告が出る。DOM 操作が必要な場面以外は useEffect を使う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SWR（データ取得ライブラリ）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SWR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Vercel 製。キャッシュ・再検証・ローディング・エラーハンドリングをシンプルな API で扱える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useSWR from 'swr';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fetcher = url =&gt; fetch(url).then(res =&gt; res.json());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WeatherWidget()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{ data, isLoading, error } = useSWR('/api/weather', fetcher);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if (isLoading) return &lt;p&gt;Loading...&lt;/p&gt;;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if (error)     return &lt;p&gt;エラーが発生しました&lt;/p&gt;;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&lt;p&gt;天気: {data.weather[0].description}&lt;/p&gt;;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SWRConfig ― グローバル設定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SWRConfig } from 'swr';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&lt;SWRConfig value={{ fetcher, suspense: true }}&gt;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配下の useSWR は fetcher を自動で使う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&lt;WeatherWidget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&lt;ForecastWidget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&lt;/SWRConfig&gt;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URL がキャッシュのキーになる。同じ URL を複数コンポーネントで使ってもリクエストは 1 回だけ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SWR + Suspense / ErrorBoundary / カスタムフック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suspense: true で isLoading 判定が不要に。カスタムフックに切り出すと再利用も簡単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Suspense + ErrorBoundary との連携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SWRApp()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&lt;ErrorBoundary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FallbackComponent={({ error, resetErrorBoundary })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setTimeout(resetErrorBoundary, 5000); // 5 秒後に自動リトライ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return &lt;p&gt;{error.message}&lt;/p&gt;;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}}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&lt;Suspense fallback={&lt;p&gt;Loading...&lt;/p&gt;}&gt;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&lt;SWRConfig value={{ fetcher, suspense: true }}&gt;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  &lt;WeatherWidget /&gt;  {/* data が undefined になることはない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&lt;/SWRConfig&gt;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&lt;/Suspense&gt;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&lt;/ErrorBoundary&gt;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データ取得をカスタムフックに切り出す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useWeather()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{ data } = useSWR(endpoint); // 同じ URL なら複数箇所で使ってもリクエストは 1 回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data;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WeatherIcon()    { const data = useWeather(); return &lt;img src={...} /&gt;;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WeatherDetails() { const data = useWeather(); return &lt;ul&gt;...&lt;/ul&gt;; 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useEffect + fetch の自前実装（ローディング・エラー・再取得の管理）を SWR は 1 行に置き換える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useRef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useRef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値が変わっても再レンダリングしない。「レンダリングに不要だが保持したい値」に使う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useRef, useState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Timer()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timerId = useRef(null); // setInterval の ID を保持（画面表示には不要）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[count, setCount] = useState(0);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start = 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if (timerId.current === null)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timerId.current = setInterval(() =&gt; setCount(c =&gt; c + 1), 1000);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stop = ()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clearInterval(timerId.current);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timerId.current = null;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onClick={start}&gt;Start&lt;/button&gt;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onClick={stop}&gt;Stop&lt;/button&gt;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&lt;p&gt;{count}&lt;/p&gt;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setInterval の ID は画面表示に使わないので State でなく Ref が適切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forwardRef / コールバック Ref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forwardRef で親から子の DOM にアクセス。コールバック Ref でマウント時に即座に処理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forwardRef ― 親から子の DOM 要素にアクセスする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MyTextBox = forwardRef((props, ref)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&lt;input type="text" ref={ref} {...props}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));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inputRef = useRef(null);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&lt;MyTextBox ref={inputRef}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inputRef.current.focus()}&gt;フォーカス&lt;/button&gt;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コールバック Ref ― マウント時に即座に処理（useEffect より簡潔）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HookCallbackRef()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[show, setShow] = useState(false);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ref に関数を渡す。DOM がマウントされると elem に要素が、アンマウントされると null が渡される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callbackRef = elem =&gt; elem?.focus();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setShow(!show)}&gt;展開&lt;/button&gt;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{show &amp;&amp; &lt;input ref={callbackRef} /&gt;}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コールバック Ref は依存配列を気にする必要がない。elem?.focus() のようにオプショナルチェーンを使う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useImperativeHandle ― 公開するメソッドを限定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forwardRef で渡すと親が子 DOM 全体にアクセスできてしまう → 公開メソッドを明示的に絞り込む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useImperativeHandle, useRef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子コンポーネント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MyTextBox({ label, ref })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input = useRef(null); // 内部の DOM 参照（親には見せない）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useImperativeHandle(ref, () =&gt; ({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focus()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input.current.focus(); // focus だけを公開。他の DOM 操作は隠蔽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}), []);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&lt;label&gt;{label}: &lt;input type="text" ref={input} /&gt;&lt;/label&gt;;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親コンポーネント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textBoxRef = useRef(null);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&lt;MyTextBox label="Name" ref={textBoxRef}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textBoxRef.current.focus() は呼べるが、DOM 直接操作はできない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textBoxRef.current.focus()}&gt;フォーカス&lt;/button&gt;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forwardRef が「DOM 参照をそのまま渡す」のに対し、useImperativeHandle は「特定のメソッドだけを渡す」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useCallback（関数のメモ化）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useCallback と React.memo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React.memo でラップした子に関数を渡すとき、useCallback で関数をメモ化して不要な再レンダリングを防ぐ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useState, useCallback, memo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React.memo でラップした子は Props が変わらなければ再レンダリングしない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MemoButton = memo(({ onClick, children })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console.log('MemoButton rendered'); // useCallback なしだと毎回表示される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&lt;button onClick={onClick}&gt;{children}&lt;/button&gt;;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[count1, setCount1] = useState(0);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[count2, setCount2] = useState(0);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// count1 が変わらない限り同じ関数オブジェクトを返す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increment = useCallback(() =&gt; setCount1(c =&gt; c + 1), []);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&lt;MemoButton onClick={increment}&gt;Count1: {count1}&lt;/MemoButton&gt;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setCount2(c =&gt; c + 1)}&gt;Count2: {count2}&lt;/button&gt;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useCallback は React.memo とセットで使うことで効果を発揮。単体では再レンダリングを防げない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useReducer（複雑な State の管理）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useReducer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複数の State が絡み合う場合、State の更新ロジックを reducer にまとめられる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useReducer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reducer = (state, action)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switch (action.type)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case 'increment': return { count: state.count + 1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case 'reset':     return { count: 0 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default:          return state;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Counter()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[state, dispatch] = useReducer(reducer, { count: 0 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dispatch({ type: 'increment' })}&gt;+1&lt;/button&gt;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dispatch({ type: 'reset' })}&gt;リセット&lt;/button&gt;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&lt;p&gt;{state.count}&lt;/p&gt;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「何が起きたか（Action）」と「どう変わるか（reducer）」を分離できるため複雑な State ロジックを整理しやすい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Context API（グローバルな状態共有）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Context API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深くネストしたコンポーネントに途中を経由させずデータを渡せる仕組み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createContext, useContext, useState } from 'react';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1. Context を作成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ThemeContext = createContext('light');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2. Provider でデータを供給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[theme, setTheme] = useState('light');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&lt;ThemeContext value={theme}&gt;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setTheme(t =&gt; t === 'light' ? 'dark' : 'light')}&gt;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テーマ切り替え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&lt;DeepNestedComponent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&lt;/ThemeContext&gt;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3. どこにいても useContext で取得できる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function DeepNestedComponent()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theme = useContext(ThemeContext);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&lt;div className={theme}&gt;コンテンツ&lt;/div&gt;;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ダークモード・認証情報・言語設定など「アプリ全体に関わる設定」に向く。頻繁に変わるデータは Jotai などを検討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Jotai（グローバル状態管理ライブラリ）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Jotai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atom 単位でグローバル State を管理。useState と同じ感覚で使える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atom.js ― グローバルな State を定義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atom } from 'jotai';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countAtom = atom(0);   // グローバルなカウンター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todoAtom  = atom([]);  // グローバルな Todo リスト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どのコンポーネントからでも同じ atom を共有できる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useAtom } from 'jotai';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countAtom } from './atom';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Counter()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[count, setCount] = useAtom(countAtom); // useState と同じ API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setCount(c =&gt; c + 1)}&gt;+&lt;/button&gt;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&lt;p&gt;{count}&lt;/p&gt;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同じ countAtom を別コンポーネントで useAtom すれば値が自動的に同期。Context と異なり atom を使うコンポーネントだけ再レンダリング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派生 atom・書き込み専用 atom・Provider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atom は値を持つだけでなく、他の atom から計算した値や更新ロジックも持てる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atom } from 'jotai';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atomWithStorage, atomWithReset, RESET } from 'jotai/utils';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localStorage と自動同期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todosAtom   = atomWithStorage('todos', []);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RESET シンボルで初期値に戻せる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counterAtom = atomWithReset(0);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読み取り専用の派生 atom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lastIdAtom  = atom(get =&gt; get(todosAtom).at(-1)?.id ?? 0);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書き込み専用 atom ― 更新ロジックをカプセル化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todoAddAtom = atom(null, (get, set, title) =&gt;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set(todosAtom, [...get(todosAtom), { id: get(lastIdAtom) + 1, title, isDone: false }]);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コンポーネント側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import { useAtomValue, useSetAtom } from 'jotai';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TodoList()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todos   = useAtomValue(todosAtom);  // 読み取りのみ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const todoAdd = useSetAtom(todoAddAtom);  // 書き込みのみ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&lt;button onClick={() =&gt; todoAdd('新しいTodo')}&gt;追加&lt;/button&gt;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&lt;ul&gt;{todos.map(t =&gt; &lt;li key={t.id}&gt;{t.title}&lt;/li&gt;)}&lt;/ul&gt;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useAtomValue / useSetAtom を使い分けると不要な再レンダリングをさらに抑えられる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Provider と createStore ― atom のスコープを分ける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同じ atom でもコンポーネントツリーごとに独立した値を持たせられる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import { createStore, Provider } from 'jotai';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storeA = createStore();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const storeB = createStore();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storeA の countAtom と storeB の countAtom は独立している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&lt;Provider store={storeA}&gt;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&lt;Counter /&gt;  {/* storeA の値を使う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&lt;/Provider&gt;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&lt;Provider store={storeB}&gt;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&lt;Counter /&gt;  {/* storeB の値を使う（storeA とは別）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&lt;/Provider&gt;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{/* Provider なし：グローバルストアの値を使う */}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&lt;Counter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典型的なユースケース: 同じコンポーネントを複数置いてそれぞれ独立した状態を持つ場合。テスト環境での状態分離にも有効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Storybook（コンポーネントカタログ）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Storybook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754"/>
                </a:solidFill>
                <a:latin typeface="Noto Sans JP"/>
              </a:rPr>
              <a:t>コンポーネントを独立した環境でインタラクティブに確認できるツール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F3F4F6"/>
          </a:solidFill>
          <a:ln>
            <a:solidFill>
              <a:srgbClr val="CCD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1A5676"/>
                </a:solidFill>
                <a:latin typeface="Courier New"/>
              </a:rPr>
              <a:t>// MyButton.stories.jsx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component: MyButton,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args: { label: 'ボタン'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Story を export するだけで Storybook に表示される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Primary =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args: { variant: 'primary', label: 'Primary'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Secondary =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args: { variant: 'secondary', label: 'Secondary'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const Disabled =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args: { variant: 'primary', label: 'Disabled', disabled: true },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// デコレーター ― Story をラップする共通コンテキスト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export default {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component: MyButton,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decorators: [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(Story) =&gt; (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&lt;div style={{ padding: '2rem', background: '#f0f0f0' }}&gt;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  &lt;Story /&gt;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  &lt;/div&gt;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  ),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  ],</a:t>
            </a:r>
          </a:p>
          <a:p>
            <a:r>
              <a:rPr sz="1050">
                <a:solidFill>
                  <a:srgbClr val="1A5676"/>
                </a:solidFill>
                <a:latin typeface="Courier New"/>
              </a:rPr>
              <a:t>};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A6A00"/>
                </a:solidFill>
                <a:latin typeface="Noto Sans JP"/>
              </a:rPr>
              <a:t>💡 Props をブラウザ上で変更しながら動作確認できるため、デザイナーとの共有やコンポーネント仕様確認に役立つ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78D4"/>
                </a:solidFill>
                <a:latin typeface="Noto Sans JP"/>
              </a:rPr>
              <a:t>Chapter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Noto Sans JP"/>
              </a:rPr>
              <a:t>Hooks チートシート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Hooks チートシート（前半）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7432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960120"/>
            <a:ext cx="36576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978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よくある使い所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399032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4264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UI に関わる値を管理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カウンター・フォーム入力・モーダル開閉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743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useEffect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837943"/>
            <a:ext cx="36576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86537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レンダリング後の副作用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API 呼び出し・タイマー・イベントリスナー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useLayoutEffect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276856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23042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DOM 更新後・描画前に同期実行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DOM サイズ計測・ちらつき防止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743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useRef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715768"/>
            <a:ext cx="36576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274319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再描画なしの値保持・DOM 参照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タイマー ID・フォーカス操作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54680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1821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useCallback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3154680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182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関数のメモ化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154680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31821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React.memo の子へのハンドラ渡し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005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Hooks チートシート（後半）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7432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960120"/>
            <a:ext cx="36576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978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よくある使い所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useReducer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399032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4264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複雑な State 更新ロジック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State の項目が多いフォーム・Todo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743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837943"/>
            <a:ext cx="36576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86537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Context からの値取得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テーマ・認証情報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useImperativeHandle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276856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23042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子から親に公開するメソッドを限定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forwardRef と組み合わせて使用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743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useDebugValue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715768"/>
            <a:ext cx="36576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274319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DevTools へのデバッグ情報表示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EDEF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カスタムフック開発時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54680"/>
            <a:ext cx="2743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1821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Noto Sans JP"/>
              </a:rPr>
              <a:t>use（React 19）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3154680"/>
            <a:ext cx="36576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182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Promise・Context を直接読み取る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154680"/>
            <a:ext cx="5029200" cy="438912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31821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754"/>
                </a:solidFill>
                <a:latin typeface="Noto Sans JP"/>
              </a:rPr>
              <a:t>Suspense と組み合わせた非同期データ取得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A1A2E"/>
                </a:solidFill>
                <a:latin typeface="Noto Sans JP"/>
              </a:rPr>
              <a:t>まとめ：React 入門ロードマップ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91440" cy="13258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270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Noto Sans JP"/>
              </a:rPr>
              <a:t>① コンポーネント・Props・JSX を理解する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4300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43000"/>
            <a:ext cx="91440" cy="1325880"/>
          </a:xfrm>
          <a:prstGeom prst="rect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423160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270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7F37"/>
                </a:solidFill>
                <a:latin typeface="Noto Sans JP"/>
              </a:rPr>
              <a:t>② useState でインタラクティブな UI を作る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91440" cy="1325880"/>
          </a:xfrm>
          <a:prstGeom prst="rect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3580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A6A00"/>
                </a:solidFill>
                <a:latin typeface="Noto Sans JP"/>
              </a:rPr>
              <a:t>③ useEffect で API 連携・副作用を管理する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65176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651760"/>
            <a:ext cx="91440" cy="1325880"/>
          </a:xfrm>
          <a:prstGeom prst="rect">
            <a:avLst/>
          </a:prstGeom>
          <a:solidFill>
            <a:srgbClr val="6F2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931920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03580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F2DA8"/>
                </a:solidFill>
                <a:latin typeface="Noto Sans JP"/>
              </a:rPr>
              <a:t>④ Context / Jotai でグローバル状態を管理する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60520"/>
            <a:ext cx="91440" cy="1325880"/>
          </a:xfrm>
          <a:prstGeom prst="rect">
            <a:avLst/>
          </a:prstGeom>
          <a:solidFill>
            <a:srgbClr val="C02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440679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02727"/>
                </a:solidFill>
                <a:latin typeface="Noto Sans JP"/>
              </a:rPr>
              <a:t>⑤ パフォーマンス最適化（memo / useCallback / lazy）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160520"/>
            <a:ext cx="5577840" cy="13258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4160520"/>
            <a:ext cx="91440" cy="1325880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5440679"/>
            <a:ext cx="5577840" cy="54864"/>
          </a:xfrm>
          <a:prstGeom prst="rect">
            <a:avLst/>
          </a:prstGeom>
          <a:solidFill>
            <a:srgbClr val="CC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5445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44754"/>
                </a:solidFill>
                <a:latin typeface="Noto Sans JP"/>
              </a:rPr>
              <a:t>⑥ フォーム・データ取得ライブラリを活用する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444754"/>
                </a:solidFill>
                <a:latin typeface="Noto Sans JP"/>
              </a:rPr>
              <a:t>Happy Coding with React!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