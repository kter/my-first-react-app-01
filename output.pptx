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94960" y="1097280"/>
            <a:ext cx="1399032" cy="1399032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100584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0232A"/>
                </a:solidFill>
              </a:rPr>
              <a:t>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3464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61DAFB"/>
                </a:solidFill>
              </a:rPr>
              <a:t>React 入門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</a:rPr>
              <a:t>写経で学ぶ React の基礎から応用まで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AA"/>
                </a:solidFill>
              </a:rPr>
              <a:t>Vite + React + Hooks + Jotai + SWR + Storybook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46888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1DAF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プロジェクト構成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46888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1DAFB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20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State 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371600"/>
            <a:ext cx="246888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1DAFB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20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イベント処理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371600"/>
            <a:ext cx="246888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1DAFB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920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Hooks 基礎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246888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1DAFB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Hooks 応用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291840"/>
            <a:ext cx="246888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3375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1DAFB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840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スタイリング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291840"/>
            <a:ext cx="246888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33375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1DAFB"/>
                </a:solidFill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840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外部データ (SWR)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3291840"/>
            <a:ext cx="246888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33375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1DAFB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840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Jotai 状態管理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12080"/>
            <a:ext cx="246888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257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1DAFB"/>
                </a:solidFill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Storybook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5212080"/>
            <a:ext cx="246888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5257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1DAFB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760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Suspense / Lazy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5212080"/>
            <a:ext cx="246888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257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1DAFB"/>
                </a:solidFill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760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パフォーマンス最適化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5212080"/>
            <a:ext cx="246888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5257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1DAFB"/>
                </a:solidFill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760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01. プロジェクト構成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Vite + React で素早く始める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FFFFFF"/>
                </a:solidFill>
              </a:rPr>
              <a:t>  • npm create vite@latest で生成</a:t>
            </a:r>
          </a:p>
          <a:p>
            <a:r>
              <a:rPr sz="1900">
                <a:solidFill>
                  <a:srgbClr val="FFFFFF"/>
                </a:solidFill>
              </a:rPr>
              <a:t>  • エントリーポイント: src/main.jsx</a:t>
            </a:r>
          </a:p>
          <a:p>
            <a:r>
              <a:rPr sz="1900">
                <a:solidFill>
                  <a:srgbClr val="FFFFFF"/>
                </a:solidFill>
              </a:rPr>
              <a:t>  • ルートコンポーネント: src/App.jsx</a:t>
            </a:r>
          </a:p>
          <a:p>
            <a:r>
              <a:rPr sz="1900">
                <a:solidFill>
                  <a:srgbClr val="FFFFFF"/>
                </a:solidFill>
              </a:rPr>
              <a:t>  • Node.js 環境管理に mise を利用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71600"/>
            <a:ext cx="6126480" cy="384048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481328"/>
            <a:ext cx="5852160" cy="3621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EC984"/>
                </a:solidFill>
                <a:latin typeface="Courier New"/>
              </a:rPr>
              <a:t>// main.jsx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{ StrictMode } from 'react'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{ createRoot } from 'react-dom/client'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App from './App.jsx'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createRoot(document.getElementById('root'))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.render(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&lt;StrictMode&gt;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&lt;App /&gt;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&lt;/StrictMode&gt;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02. State 管理 — useState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コンポーネントの内部状態を管理する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  • useState(初期値) でステート変数と更新関数を取得</a:t>
            </a:r>
          </a:p>
          <a:p>
            <a:r>
              <a:rPr sz="1800">
                <a:solidFill>
                  <a:srgbClr val="FFFFFF"/>
                </a:solidFill>
              </a:rPr>
              <a:t>  • ステートを更新すると再レンダリングが起こる</a:t>
            </a:r>
          </a:p>
          <a:p>
            <a:r>
              <a:rPr sz="1800">
                <a:solidFill>
                  <a:srgbClr val="FFFFFF"/>
                </a:solidFill>
              </a:rPr>
              <a:t>  • 親→子へ props でステートを渡せる</a:t>
            </a:r>
          </a:p>
          <a:p>
            <a:r>
              <a:rPr sz="1800">
                <a:solidFill>
                  <a:srgbClr val="FFFFFF"/>
                </a:solidFill>
              </a:rPr>
              <a:t>  • StateTodo: 複数ステートで TODO アプリを実装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71600"/>
            <a:ext cx="6126480" cy="41148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481328"/>
            <a:ext cx="5852160" cy="3895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EC984"/>
                </a:solidFill>
                <a:latin typeface="Courier New"/>
              </a:rPr>
              <a:t>// StateBasic.jsx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{ useState } from 'react';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export default function StateBasic({ init })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const [count, setCount] = useState(init);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const handleClick = () =&gt; setCount(count + 1);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return (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&lt;button onClick={handleClick}&gt;count&lt;/button&gt;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&lt;p&gt;click {count} times&lt;/p&gt;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&lt;/&gt;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02. State 管理 — Todo アプリ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複数の State を組み合わせる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943600" cy="475488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669280" cy="4535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EC984"/>
                </a:solidFill>
                <a:latin typeface="Courier New"/>
              </a:rPr>
              <a:t>// StateTodo.jsx（抜粋）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[maxId, setMaxId] = useState(1);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[title, setTitle] = useState('');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[todo, setTodo]   = useState([]);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[desc, setDesc]   = useState(true);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handleClick = () =&gt;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setTodo([...todo,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id: maxId, title,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created: new Date(), isDone: false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}]);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setMaxId(id =&gt; id + 1);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handleDone = e =&gt;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setTodo(todo.map(item =&gt;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item.id === Number(e.target.dataset.id)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? { ...item, isDone: !item.isDone }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: item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));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  • 追加 / 完了 / 削除 / ソートを State だけで実装</a:t>
            </a:r>
          </a:p>
          <a:p>
            <a:r>
              <a:rPr sz="1700">
                <a:solidFill>
                  <a:srgbClr val="FFFFFF"/>
                </a:solidFill>
              </a:rPr>
              <a:t>  • 配列の更新は必ず新しい配列を返す（イミュータブル）</a:t>
            </a:r>
          </a:p>
          <a:p>
            <a:r>
              <a:rPr sz="1700">
                <a:solidFill>
                  <a:srgbClr val="FFFFFF"/>
                </a:solidFill>
              </a:rPr>
              <a:t>  • スプレッド構文 [...todo, newItem] で追加</a:t>
            </a:r>
          </a:p>
          <a:p>
            <a:r>
              <a:rPr sz="1700">
                <a:solidFill>
                  <a:srgbClr val="FFFFFF"/>
                </a:solidFill>
              </a:rPr>
              <a:t>  • .map() で特定要素だけ更新</a:t>
            </a:r>
          </a:p>
          <a:p>
            <a:r>
              <a:rPr sz="1700">
                <a:solidFill>
                  <a:srgbClr val="FFFFFF"/>
                </a:solidFill>
              </a:rPr>
              <a:t>  • .filter() で要素を削除</a:t>
            </a:r>
          </a:p>
          <a:p>
            <a:r>
              <a:rPr sz="1700">
                <a:solidFill>
                  <a:srgbClr val="FFFFFF"/>
                </a:solidFill>
              </a:rPr>
              <a:t>  • ソートは [...todo].sort() でコピーしてから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03. イベント処理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ユーザー操作を受け取る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  • onClick / onChange / onKeyDown など合成イベント</a:t>
            </a:r>
          </a:p>
          <a:p>
            <a:r>
              <a:rPr sz="1800">
                <a:solidFill>
                  <a:srgbClr val="FFFFFF"/>
                </a:solidFill>
              </a:rPr>
              <a:t>  • ハンドラは関数参照を渡す（呼び出しではない）</a:t>
            </a:r>
          </a:p>
          <a:p>
            <a:r>
              <a:rPr sz="1800">
                <a:solidFill>
                  <a:srgbClr val="FFFFFF"/>
                </a:solidFill>
              </a:rPr>
              <a:t>  • e.target.value でフォームの値を取得</a:t>
            </a:r>
          </a:p>
          <a:p>
            <a:r>
              <a:rPr sz="1800">
                <a:solidFill>
                  <a:srgbClr val="FFFFFF"/>
                </a:solidFill>
              </a:rPr>
              <a:t>  • e.target.dataset.id でカスタムデータ属性を取得</a:t>
            </a:r>
          </a:p>
          <a:p>
            <a:r>
              <a:rPr sz="1800">
                <a:solidFill>
                  <a:srgbClr val="FFFFFF"/>
                </a:solidFill>
              </a:rPr>
              <a:t>  • イベントオブジェクト (SyntheticEvent) を引数に受け取る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71600"/>
            <a:ext cx="6126480" cy="41148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481328"/>
            <a:ext cx="5852160" cy="3895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EC984"/>
                </a:solidFill>
                <a:latin typeface="Courier New"/>
              </a:rPr>
              <a:t>// EventBasic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&lt;button onClick={handleClick}&gt;Click&lt;/button&gt;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// EventArgs – 引数付きハンドラ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&lt;button onClick={() =&gt; handleClick(item.id)}&gt;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// EventKey – キーイベント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handleKeyDown = (e) =&gt;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if (e.key === 'Enter') { /* ... */ }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// EventObj – イベントオブジェクト参照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handleChange = (e) =&gt;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setTitle(e.target.value);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04. Hooks 基礎 — useEffect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レンダリング後の副作用を処理する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  • レンダリング後に実行される副作用処理</a:t>
            </a:r>
          </a:p>
          <a:p>
            <a:r>
              <a:rPr sz="1700">
                <a:solidFill>
                  <a:srgbClr val="FFFFFF"/>
                </a:solidFill>
              </a:rPr>
              <a:t>  • 第 2 引数の依存配列で実行タイミングを制御</a:t>
            </a:r>
          </a:p>
          <a:p>
            <a:r>
              <a:rPr sz="1700">
                <a:solidFill>
                  <a:srgbClr val="FFFFFF"/>
                </a:solidFill>
              </a:rPr>
              <a:t>  • [] → 初回マウント時のみ</a:t>
            </a:r>
          </a:p>
          <a:p>
            <a:r>
              <a:rPr sz="1700">
                <a:solidFill>
                  <a:srgbClr val="FFFFFF"/>
                </a:solidFill>
              </a:rPr>
              <a:t>  • [value] → value が変化した時</a:t>
            </a:r>
          </a:p>
          <a:p>
            <a:r>
              <a:rPr sz="1700">
                <a:solidFill>
                  <a:srgbClr val="FFFFFF"/>
                </a:solidFill>
              </a:rPr>
              <a:t>  • クリーンアップ関数を return で返す（タイマー解除など）</a:t>
            </a:r>
          </a:p>
          <a:p>
            <a:r>
              <a:rPr sz="1700">
                <a:solidFill>
                  <a:srgbClr val="FFFFFF"/>
                </a:solidFill>
              </a:rPr>
              <a:t>  • useLayoutEffect: DOM 更新前に同期実行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71600"/>
            <a:ext cx="6126480" cy="438912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481328"/>
            <a:ext cx="5852160" cy="4169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EC984"/>
                </a:solidFill>
                <a:latin typeface="Courier New"/>
              </a:rPr>
              <a:t>// HookTimer.jsx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{ useEffect, useState } from 'react';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export default function HookTimer({ init })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const [count, setCount] = useState(init);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useEffect(() =&gt;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const t = setInterval(() =&gt;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setCount(c =&gt; c - 1);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}, 1000);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// クリーンアップ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return () =&gt; { clearInterval(t); };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}, []); // 初回のみ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return &lt;div&gt;{count}&lt;/div&gt;;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04. Hooks 基礎 — useRef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DOM 参照 &amp; 再レンダリングを起こさない値の保持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  • ref.current で値を読み書き（再レンダリングしない）</a:t>
            </a:r>
          </a:p>
          <a:p>
            <a:r>
              <a:rPr sz="1700">
                <a:solidFill>
                  <a:srgbClr val="FFFFFF"/>
                </a:solidFill>
              </a:rPr>
              <a:t>  • DOM 要素への参照として使う</a:t>
            </a:r>
          </a:p>
          <a:p>
            <a:r>
              <a:rPr sz="1700">
                <a:solidFill>
                  <a:srgbClr val="FFFFFF"/>
                </a:solidFill>
              </a:rPr>
              <a:t>  • タイマー ID など「状態ではない値」の保持に最適</a:t>
            </a:r>
          </a:p>
          <a:p>
            <a:r>
              <a:rPr sz="1700">
                <a:solidFill>
                  <a:srgbClr val="FFFFFF"/>
                </a:solidFill>
              </a:rPr>
              <a:t>  • forwardRef: ref を子コンポーネントに転送</a:t>
            </a:r>
          </a:p>
          <a:p>
            <a:r>
              <a:rPr sz="1700">
                <a:solidFill>
                  <a:srgbClr val="FFFFFF"/>
                </a:solidFill>
              </a:rPr>
              <a:t>  • useImperativeHandle: 親から子の関数を呼ぶ</a:t>
            </a:r>
          </a:p>
          <a:p>
            <a:r>
              <a:rPr sz="1700">
                <a:solidFill>
                  <a:srgbClr val="FFFFFF"/>
                </a:solidFill>
              </a:rPr>
              <a:t>  • callback ref: ref に関数を渡す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71600"/>
            <a:ext cx="6126480" cy="475488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481328"/>
            <a:ext cx="5852160" cy="4535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EC984"/>
                </a:solidFill>
                <a:latin typeface="Courier New"/>
              </a:rPr>
              <a:t>// HookRef.jsx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{ useState, useRef } from 'react';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export default function HookRef()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const id = useRef(null);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const [count, setCount] = useState(0);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const handleStart = () =&gt;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if (id.current === null)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id.current = setInterval(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  () =&gt; setCount(c =&gt; c + 1), 1000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}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};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const handleEnd = () =&gt;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clearInterval(id.current);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id.current = null;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};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return (&lt;&gt;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&lt;button onClick={handleStart}&gt;Start&lt;/button&gt;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&lt;button onClick={handleEnd}&gt;End&lt;/button&gt;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&lt;p&gt;{count}&lt;/p&gt;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&lt;/&gt;);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04. Hooks 基礎 — useContext / useReducer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グローバル状態とアクション駆動の状態管理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760720" cy="22860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486400" cy="20665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EC984"/>
                </a:solidFill>
                <a:latin typeface="Courier New"/>
              </a:rPr>
              <a:t>// useContext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MyAppContext from './MyAppContext';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export default function HookContext()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const config = { title: 'React', lang: 'ja-JP' };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return (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&lt;MyAppContext value={config}&gt;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&lt;HookContextChild /&gt;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&lt;/MyAppContext&gt;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40480"/>
            <a:ext cx="5760720" cy="256032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50208"/>
            <a:ext cx="5486400" cy="2340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EC984"/>
                </a:solidFill>
                <a:latin typeface="Courier New"/>
              </a:rPr>
              <a:t>// useReducer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[state, dispatch] = useReducer(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(state, action) =&gt;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switch (action.type)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case 'update':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  return { count: state.count + 1 };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default: return state;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}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},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{ count: init }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dispatch({ type: 'update' });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  • useContext: Props のバケツリレーを解消</a:t>
            </a:r>
          </a:p>
          <a:p>
            <a:r>
              <a:rPr sz="1700">
                <a:solidFill>
                  <a:srgbClr val="FFFFFF"/>
                </a:solidFill>
              </a:rPr>
              <a:t>  • Provider でラップした子孫すべてが値を参照可能</a:t>
            </a:r>
          </a:p>
          <a:p>
            <a:r>
              <a:rPr sz="1700">
                <a:solidFill>
                  <a:srgbClr val="FFFFFF"/>
                </a:solidFill>
              </a:rPr>
              <a:t>  • useReducer: 複雑な状態遷移を管理</a:t>
            </a:r>
          </a:p>
          <a:p>
            <a:r>
              <a:rPr sz="1700">
                <a:solidFill>
                  <a:srgbClr val="FFFFFF"/>
                </a:solidFill>
              </a:rPr>
              <a:t>  • Redux ライクな action / reducer パターン</a:t>
            </a:r>
          </a:p>
          <a:p>
            <a:r>
              <a:rPr sz="1700">
                <a:solidFill>
                  <a:srgbClr val="FFFFFF"/>
                </a:solidFill>
              </a:rPr>
              <a:t>  • dispatch(action) で状態更新を指示</a:t>
            </a:r>
          </a:p>
          <a:p>
            <a:r>
              <a:rPr sz="1700">
                <a:solidFill>
                  <a:srgbClr val="FFFFFF"/>
                </a:solidFill>
              </a:rPr>
              <a:t>  • テーマ・言語切替など app 全体の設定に活用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05. Hooks 応用 — パフォーマンス系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useMemo / useCallback / useTransition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760720" cy="3657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486400" cy="3438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EC984"/>
                </a:solidFill>
                <a:latin typeface="Courier New"/>
              </a:rPr>
              <a:t>// useMemo – 計算結果をキャッシュ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result = useMemo(() =&gt;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return heavyCalc(value);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}, [value]);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// useCallback – 関数参照をキャッシュ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handleClick = useCallback(() =&gt;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doSomething(id);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}, [id]);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// memo – コンポーネントの再レンダリングを抑制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Child = memo(({ value }) =&gt;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return &lt;p&gt;{value}&lt;/p&gt;;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  • useMemo: 重い計算を依存値が変わるまでキャッシュ</a:t>
            </a:r>
          </a:p>
          <a:p>
            <a:r>
              <a:rPr sz="1700">
                <a:solidFill>
                  <a:srgbClr val="FFFFFF"/>
                </a:solidFill>
              </a:rPr>
              <a:t>  • useCallback: 関数定義をメモ化（memo との組み合わせ）</a:t>
            </a:r>
          </a:p>
          <a:p>
            <a:r>
              <a:rPr sz="1700">
                <a:solidFill>
                  <a:srgbClr val="FFFFFF"/>
                </a:solidFill>
              </a:rPr>
              <a:t>  • memo: props が変わらなければ再レンダリングしない</a:t>
            </a:r>
          </a:p>
          <a:p>
            <a:r>
              <a:rPr sz="1700">
                <a:solidFill>
                  <a:srgbClr val="FFFFFF"/>
                </a:solidFill>
              </a:rPr>
              <a:t>  • useTransition: 優先度の低い更新を遅延</a:t>
            </a:r>
          </a:p>
          <a:p>
            <a:r>
              <a:rPr sz="1700">
                <a:solidFill>
                  <a:srgbClr val="FFFFFF"/>
                </a:solidFill>
              </a:rPr>
              <a:t>  •   isPending フラグで UI にローディング表示</a:t>
            </a:r>
          </a:p>
          <a:p>
            <a:r>
              <a:rPr sz="1700">
                <a:solidFill>
                  <a:srgbClr val="FFFFFF"/>
                </a:solidFill>
              </a:rPr>
              <a:t>  • useDeferredValue: 特定値の遅延バージョンを生成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212080"/>
            <a:ext cx="1143000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321808"/>
            <a:ext cx="11155680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EC984"/>
                </a:solidFill>
                <a:latin typeface="Courier New"/>
              </a:rPr>
              <a:t>// useTransition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[isPending, startTransition] = useTransition();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startTransition(() =&gt;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setHeavyState(newValue);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// useDeferredValue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deferred = useDeferredValue(inputValue);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06. スタイリング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CSS から CSS-in-JS まで多様なアプローチ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57784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1DAFB"/>
                </a:solidFill>
              </a:rPr>
              <a:t>グローバル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</a:rPr>
              <a:t>import ./App.css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57784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EC984"/>
                </a:solidFill>
              </a:rPr>
              <a:t>CSS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</a:rPr>
              <a:t>import styles from ./X.module.css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557784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C00"/>
                </a:solidFill>
              </a:rPr>
              <a:t>Styled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</a:rPr>
              <a:t>styled.div`...`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7784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108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82F0"/>
                </a:solidFill>
              </a:rPr>
              <a:t>Emotion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118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</a:rPr>
              <a:t>@emotion/react css prop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63440"/>
            <a:ext cx="557784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7548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</a:rPr>
              <a:t>Framer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</a:rPr>
              <a:t>motion.div animate={...}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663440"/>
            <a:ext cx="5577840" cy="137160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7548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AAAAA"/>
                </a:solidFill>
              </a:rPr>
              <a:t>Material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2578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</a:rPr>
              <a:t>Box / Grid / Drawer コンポーネント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07. 外部データ取得 — SWR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stale-while-revalidate キャッシュ戦略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  • useSWR(key, fetcher) で宣言的にデータ取得</a:t>
            </a:r>
          </a:p>
          <a:p>
            <a:r>
              <a:rPr sz="1800">
                <a:solidFill>
                  <a:srgbClr val="FFFFFF"/>
                </a:solidFill>
              </a:rPr>
              <a:t>  • data / isLoading / error を返す</a:t>
            </a:r>
          </a:p>
          <a:p>
            <a:r>
              <a:rPr sz="1800">
                <a:solidFill>
                  <a:srgbClr val="FFFFFF"/>
                </a:solidFill>
              </a:rPr>
              <a:t>  • 同じ key のリクエストは自動で重複排除</a:t>
            </a:r>
          </a:p>
          <a:p>
            <a:r>
              <a:rPr sz="1800">
                <a:solidFill>
                  <a:srgbClr val="FFFFFF"/>
                </a:solidFill>
              </a:rPr>
              <a:t>  • ウィンドウフォーカス時に自動再検証</a:t>
            </a:r>
          </a:p>
          <a:p>
            <a:r>
              <a:rPr sz="1800">
                <a:solidFill>
                  <a:srgbClr val="FFFFFF"/>
                </a:solidFill>
              </a:rPr>
              <a:t>  • Suspense / ErrorBoundary との統合も可能</a:t>
            </a:r>
          </a:p>
          <a:p>
            <a:r>
              <a:rPr sz="1800">
                <a:solidFill>
                  <a:srgbClr val="FFFFFF"/>
                </a:solidFill>
              </a:rPr>
              <a:t>  • compare() でカスタム等値判定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71600"/>
            <a:ext cx="6126480" cy="475488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481328"/>
            <a:ext cx="5852160" cy="4535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EC984"/>
                </a:solidFill>
                <a:latin typeface="Courier New"/>
              </a:rPr>
              <a:t>// SWRBasic.jsx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useSWR from 'swr';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fetcher from './fetcher';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export default function SWRBasic()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const endpoint = `https://api.openweathermap.org/...`;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const { data, isLoading, error } =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useSWR(endpoint, fetcher);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if (isLoading) return &lt;p&gt;Loading...&lt;/p&gt;;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if (error) return &lt;p&gt;Error: {error.message}&lt;/p&gt;;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return (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&lt;figure&gt;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&lt;img src={data?.weather?.[0]?.icon} /&gt;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&lt;figcaption&gt;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  {data?.weather?.[0]?.description}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&lt;/figcaption&gt;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&lt;/figure&gt;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08. Jotai — アトム型状態管理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シンプルで柔軟なグローバル状態管理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  • atom() で最小単位の状態 (atom) を定義</a:t>
            </a:r>
          </a:p>
          <a:p>
            <a:r>
              <a:rPr sz="1700">
                <a:solidFill>
                  <a:srgbClr val="FFFFFF"/>
                </a:solidFill>
              </a:rPr>
              <a:t>  • useAtom(atom) → [value, setValue] で読み書き</a:t>
            </a:r>
          </a:p>
          <a:p>
            <a:r>
              <a:rPr sz="1700">
                <a:solidFill>
                  <a:srgbClr val="FFFFFF"/>
                </a:solidFill>
              </a:rPr>
              <a:t>  • useResetAtom で初期値にリセット</a:t>
            </a:r>
          </a:p>
          <a:p>
            <a:r>
              <a:rPr sz="1700">
                <a:solidFill>
                  <a:srgbClr val="FFFFFF"/>
                </a:solidFill>
              </a:rPr>
              <a:t>  • Provider でアトムの有効範囲を限定</a:t>
            </a:r>
          </a:p>
          <a:p>
            <a:r>
              <a:rPr sz="1700">
                <a:solidFill>
                  <a:srgbClr val="FFFFFF"/>
                </a:solidFill>
              </a:rPr>
              <a:t>  • Store で複数アトムをまとめて管理</a:t>
            </a:r>
          </a:p>
          <a:p>
            <a:r>
              <a:rPr sz="1700">
                <a:solidFill>
                  <a:srgbClr val="FFFFFF"/>
                </a:solidFill>
              </a:rPr>
              <a:t>  • localStorage 連携（atomWithStorage）</a:t>
            </a:r>
          </a:p>
          <a:p>
            <a:r>
              <a:rPr sz="1700">
                <a:solidFill>
                  <a:srgbClr val="FFFFFF"/>
                </a:solidFill>
              </a:rPr>
              <a:t>  • Todo ロジックを atom の外に分離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71600"/>
            <a:ext cx="6126480" cy="475488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481328"/>
            <a:ext cx="5852160" cy="4535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EC984"/>
                </a:solidFill>
                <a:latin typeface="Courier New"/>
              </a:rPr>
              <a:t>// atom.js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{ atom } from 'jotai';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export const counterAtom = atom(0);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// JotaiCounter.jsx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{ useAtom } from 'jotai';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{ useResetAtom } from 'jotai/utils';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{ counterAtom } from './atom';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export default function JotaiCounter()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const [counter, setCounter] = useAtom(counterAtom);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const resetCounter = useResetAtom(counterAtom);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return (&lt;&gt;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&lt;button onClick={() =&gt; setCounter(c =&gt; c + 1)}&gt;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Count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&lt;/button&gt;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&lt;button onClick={resetCounter}&gt;Reset&lt;/button&gt;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&lt;p&gt;{counter} times&lt;/p&gt;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&lt;/&gt;);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09. Storybook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コンポーネントを独立して開発・ドキュメント化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577840" cy="109728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</a:rPr>
              <a:t>Story の作成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export default / export const でストーリー定義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577840" cy="109728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</a:rPr>
              <a:t>argTypes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Controls タブで props をインタラクティブに操作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06040"/>
            <a:ext cx="5577840" cy="109728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</a:rPr>
              <a:t>Decorator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08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ストーリーに独自レイアウトを付与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606040"/>
            <a:ext cx="5577840" cy="109728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651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</a:rPr>
              <a:t>Viewport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08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レスポンシブ確認用のビューポート設定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5577840" cy="109728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86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</a:rPr>
              <a:t>背景色設定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43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backgrounds アドオンで背景を切替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840480"/>
            <a:ext cx="5577840" cy="109728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886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</a:rPr>
              <a:t>Interaction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343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userEvent で操作を再現してテスト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074920"/>
            <a:ext cx="5577840" cy="109728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120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</a:rPr>
              <a:t>自動生成 Doc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autodocs タグで MDX ドキュメントを自動生成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074920"/>
            <a:ext cx="5577840" cy="109728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120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</a:rPr>
              <a:t>カスタム Doc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577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.mdx ファイルで独自ドキュメントを追加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10. Suspense / Lazy Loading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非同期処理と遅延読み込みの宣言的記述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  • lazy(): コンポーネントを動的インポートで遅延読み込み</a:t>
            </a:r>
          </a:p>
          <a:p>
            <a:r>
              <a:rPr sz="1800">
                <a:solidFill>
                  <a:srgbClr val="FFFFFF"/>
                </a:solidFill>
              </a:rPr>
              <a:t>  • Suspense: ローディング中の fallback を宣言</a:t>
            </a:r>
          </a:p>
          <a:p>
            <a:r>
              <a:rPr sz="1800">
                <a:solidFill>
                  <a:srgbClr val="FFFFFF"/>
                </a:solidFill>
              </a:rPr>
              <a:t>  • ErrorBoundary: エラー時のフォールバック UI</a:t>
            </a:r>
          </a:p>
          <a:p>
            <a:r>
              <a:rPr sz="1800">
                <a:solidFill>
                  <a:srgbClr val="FFFFFF"/>
                </a:solidFill>
              </a:rPr>
              <a:t>  • use(Promise): Promise の結果を直接コンポーネントで参照</a:t>
            </a:r>
          </a:p>
          <a:p>
            <a:r>
              <a:rPr sz="1800">
                <a:solidFill>
                  <a:srgbClr val="FFFFFF"/>
                </a:solidFill>
              </a:rPr>
              <a:t>  • throw Promise パターン（旧 Suspense 実装）</a:t>
            </a:r>
          </a:p>
          <a:p>
            <a:r>
              <a:rPr sz="1800">
                <a:solidFill>
                  <a:srgbClr val="FFFFFF"/>
                </a:solidFill>
              </a:rPr>
              <a:t>  • SWR + Suspense: データ取得と UI を統合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71600"/>
            <a:ext cx="6126480" cy="4389120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481328"/>
            <a:ext cx="5852160" cy="4169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EC984"/>
                </a:solidFill>
                <a:latin typeface="Courier New"/>
              </a:rPr>
              <a:t>// LazyBasic.jsx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{ Suspense, lazy } from 'react';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LazyButton = lazy(() =&gt;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sleep(2000).then(() =&gt; import('./LazyButton'))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export default function LazyBasic() {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return (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&lt;Suspense fallback={&lt;p&gt;Now Loading...&lt;/p&gt;}&gt;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  &lt;LazyButton /&gt;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  &lt;/Suspense&gt;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  );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}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// use() 関数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import { use } from 'react';</a:t>
            </a:r>
          </a:p>
          <a:p>
            <a:r>
              <a:rPr sz="1300">
                <a:solidFill>
                  <a:srgbClr val="4EC984"/>
                </a:solidFill>
                <a:latin typeface="Courier New"/>
              </a:rPr>
              <a:t>const data = use(fetchPromise);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11. パフォーマンス最適化まとめ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再レンダリングを減らして UX を向上させる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749808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1DAFB"/>
                </a:solidFill>
              </a:rPr>
              <a:t>memo()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447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props が変わらなければ再レンダリングしない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21992"/>
            <a:ext cx="11430000" cy="749808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951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EC984"/>
                </a:solidFill>
              </a:rPr>
              <a:t>useMemo()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9514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重い計算結果をキャッシュ。依存値変化時のみ再計算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72384"/>
            <a:ext cx="11430000" cy="749808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455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8C00"/>
                </a:solidFill>
              </a:rPr>
              <a:t>useCallback()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14553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関数オブジェクトをキャッシュ。memo と組み合わせて効果的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22776"/>
            <a:ext cx="11430000" cy="749808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959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82F0"/>
                </a:solidFill>
              </a:rPr>
              <a:t>useTransition()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959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UI 更新に優先度をつけ、低優先を遅延実行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73168"/>
            <a:ext cx="11430000" cy="749808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</a:rPr>
              <a:t>useDeferredValue()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特定値の遅延バージョン。入力中のリスト更新などに有効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23560"/>
            <a:ext cx="11430000" cy="749808"/>
          </a:xfrm>
          <a:prstGeom prst="rect">
            <a:avLst/>
          </a:prstGeom>
          <a:solidFill>
            <a:srgbClr val="2D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696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AAAAA"/>
                </a:solidFill>
              </a:rPr>
              <a:t>lazy + Suspense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6967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コンポーネントを必要になるまで読み込まない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1DAFB"/>
                </a:solidFill>
              </a:rPr>
              <a:t>12. 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430000" cy="36576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この写経で学んだこと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Vite + React で高速な開発環境を構築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useState で状態管理の基本を習得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useEffect / useRef で副作用を制御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39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useContext / useReducer でグローバル状態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3192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useMemo / useCallback でパフォーマンス改善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7200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useTransition / useDeferredValue で優先度制御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CSS Modules / Emotion / Framer 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SWR で宣言的な外部データ取得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5176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Jotai で軽量グローバル状態管理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91839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Storybook でコンポーネント開発・文書化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93192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Suspense / lazy で遅延読み込み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57200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ErrorBoundary でエラーハンドリング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96188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0232A"/>
                </a:solidFill>
              </a:rPr>
              <a:t>写経を通じて React エコシステムの全体像を把握できました！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